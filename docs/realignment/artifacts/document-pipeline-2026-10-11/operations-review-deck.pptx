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asked for these three commitments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utch-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r>
              <a:rPr sz="4000" b="1" i="0">
                <a:latin typeface="Liberation Sans"/>
              </a:rPr>
              <a:t>Field Operations Review</a:t>
            </a:r>
            <a:endParaRPr sz="4000" b="1" i="0">
              <a:latin typeface="Liberation Sans"/>
            </a:endParaRPr>
          </a:p>
        </p:txBody>
      </p:sp>
      <p:sp>
        <p:nvSpPr>
          <p:cNvPr id="3" name="hutch-subtitle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r>
              <a:rPr sz="2000" b="0" i="0">
                <a:latin typeface="Liberation Sans"/>
              </a:rPr>
              <a:t>Quarterly summary — prepared locally</a:t>
            </a:r>
            <a:endParaRPr sz="2000" b="0" i="0">
              <a:latin typeface="Liberatio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utch-title"/>
          <p:cNvSpPr txBox="1"/>
          <p:nvPr/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 i="0">
                <a:latin typeface="Liberation Sans"/>
              </a:rPr>
              <a:t>Regional order volumes</a:t>
            </a:r>
            <a:endParaRPr sz="4000" b="1" i="0">
              <a:latin typeface="Liberation Sans"/>
            </a:endParaRPr>
          </a:p>
        </p:txBody>
      </p:sp>
      <p:sp>
        <p:nvSpPr>
          <p:cNvPr id="3" name="hutch-bullets"/>
          <p:cNvSpPr txBox="1"/>
          <p:nvPr/>
        </p:nvSpPr>
        <p:spPr>
          <a:xfrm>
            <a:off x="548640" y="1463040"/>
            <a:ext cx="11091672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Region A: 120 orders, +6% month over month</a:t>
            </a:r>
            <a:endParaRPr sz="1800" b="0" i="0">
              <a:latin typeface="Liberation Sans"/>
            </a:endParaRPr>
          </a:p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Region B: 157 orders, +7% month over month</a:t>
            </a:r>
            <a:endParaRPr sz="1800" b="0" i="0">
              <a:latin typeface="Liberation Sans"/>
            </a:endParaRPr>
          </a:p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Region C: 194 orders, +8% month over month</a:t>
            </a:r>
            <a:endParaRPr sz="1800" b="0" i="0">
              <a:latin typeface="Liberatio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utch-title"/>
          <p:cNvSpPr txBox="1"/>
          <p:nvPr/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 i="0">
                <a:latin typeface="Liberation Sans"/>
              </a:rPr>
              <a:t>Response times</a:t>
            </a:r>
            <a:endParaRPr sz="4000" b="1" i="0">
              <a:latin typeface="Liberation Sans"/>
            </a:endParaRPr>
          </a:p>
        </p:txBody>
      </p:sp>
      <p:sp>
        <p:nvSpPr>
          <p:cNvPr id="3" name="hutch-bullets"/>
          <p:cNvSpPr txBox="1"/>
          <p:nvPr/>
        </p:nvSpPr>
        <p:spPr>
          <a:xfrm>
            <a:off x="548640" y="1463040"/>
            <a:ext cx="11091672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Every region inside the four-hour commitment</a:t>
            </a:r>
            <a:endParaRPr sz="1800" b="0" i="0">
              <a:latin typeface="Liberation Sans"/>
            </a:endParaRPr>
          </a:p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Northern depot improved most after the roster change</a:t>
            </a:r>
            <a:endParaRPr sz="1800" b="0" i="0">
              <a:latin typeface="Liberatio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utch-title"/>
          <p:cNvSpPr txBox="1"/>
          <p:nvPr/>
        </p:nvSpPr>
        <p:spPr>
          <a:xfrm>
            <a:off x="548640" y="365760"/>
            <a:ext cx="1109167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000" b="1" i="0">
                <a:latin typeface="Liberation Sans"/>
              </a:rPr>
              <a:t>Follow-up commitments</a:t>
            </a:r>
            <a:endParaRPr sz="4000" b="1" i="0">
              <a:latin typeface="Liberation Sans"/>
            </a:endParaRPr>
          </a:p>
        </p:txBody>
      </p:sp>
      <p:sp>
        <p:nvSpPr>
          <p:cNvPr id="3" name="hutch-bullets"/>
          <p:cNvSpPr txBox="1"/>
          <p:nvPr/>
        </p:nvSpPr>
        <p:spPr>
          <a:xfrm>
            <a:off x="548640" y="1463040"/>
            <a:ext cx="11091672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Confirm the northern roster change</a:t>
            </a:r>
            <a:endParaRPr sz="1800" b="0" i="0">
              <a:latin typeface="Liberation Sans"/>
            </a:endParaRPr>
          </a:p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Publish the response-time dashboard</a:t>
            </a:r>
            <a:endParaRPr sz="1800" b="0" i="0">
              <a:latin typeface="Liberation Sans"/>
            </a:endParaRPr>
          </a:p>
          <a:p>
            <a:pPr marL="228600" indent="-228600">
              <a:buChar char="•"/>
            </a:pPr>
            <a:r>
              <a:rPr sz="1800" b="0" i="0">
                <a:latin typeface="Liberation Sans"/>
              </a:rPr>
              <a:t>Re-review volumes after the July window</a:t>
            </a:r>
            <a:endParaRPr sz="1800" b="0" i="0">
              <a:latin typeface="Liberatio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